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48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914400"/>
            <a:ext cx="3291840" cy="3291840"/>
          </a:xfrm>
          <a:prstGeom prst="ellipse">
            <a:avLst/>
          </a:prstGeom>
          <a:solidFill>
            <a:srgbClr val="0B2545">
              <a:alpha val="22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96512"/>
            <a:ext cx="9144000" cy="512064"/>
          </a:xfrm>
          <a:prstGeom prst="rect">
            <a:avLst/>
          </a:prstGeom>
          <a:solidFill>
            <a:srgbClr val="C9302C">
              <a:alpha val="82000"/>
            </a:srgbClr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65836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8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INTRO PROJECT REPORT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658368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7863840" cy="972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700" b="1" dirty="0" err="1">
                <a:solidFill>
                  <a:srgbClr val="FFFFFF"/>
                </a:solidFill>
                <a:latin typeface="+mj-ea"/>
                <a:ea typeface="+mj-ea"/>
                <a:cs typeface="Helvetica Neue" pitchFamily="34" charset="-120"/>
              </a:rPr>
              <a:t>ZeroGS</a:t>
            </a:r>
            <a:r>
              <a:rPr lang="en-US" sz="2700" b="1" dirty="0">
                <a:solidFill>
                  <a:srgbClr val="FFFFFF"/>
                </a:solidFill>
                <a:latin typeface="+mj-ea"/>
                <a:ea typeface="+mj-ea"/>
                <a:cs typeface="Helvetica Neue" pitchFamily="34" charset="-120"/>
              </a:rPr>
              <a:t> </a:t>
            </a:r>
            <a:r>
              <a:rPr lang="zh-CN" altLang="en-US" sz="2700" b="1" dirty="0">
                <a:solidFill>
                  <a:srgbClr val="FFFFFF"/>
                </a:solidFill>
                <a:latin typeface="+mj-ea"/>
                <a:ea typeface="+mj-ea"/>
                <a:cs typeface="Helvetica Neue" pitchFamily="34" charset="-120"/>
              </a:rPr>
              <a:t>前馈式 </a:t>
            </a:r>
            <a:r>
              <a:rPr lang="en-US" altLang="zh-CN" sz="2700" b="1" dirty="0">
                <a:solidFill>
                  <a:srgbClr val="FFFFFF"/>
                </a:solidFill>
                <a:latin typeface="+mj-ea"/>
                <a:ea typeface="+mj-ea"/>
                <a:cs typeface="Helvetica Neue" pitchFamily="34" charset="-120"/>
              </a:rPr>
              <a:t>3</a:t>
            </a:r>
            <a:r>
              <a:rPr lang="en-US" sz="2700" b="1" dirty="0">
                <a:solidFill>
                  <a:srgbClr val="FFFFFF"/>
                </a:solidFill>
                <a:latin typeface="+mj-ea"/>
                <a:ea typeface="+mj-ea"/>
                <a:cs typeface="Helvetica Neue" pitchFamily="34" charset="-120"/>
              </a:rPr>
              <a:t>D Gaussian </a:t>
            </a:r>
            <a:r>
              <a:rPr lang="zh-CN" altLang="en-US" sz="2700" b="1" dirty="0">
                <a:solidFill>
                  <a:srgbClr val="FFFFFF"/>
                </a:solidFill>
                <a:latin typeface="+mj-ea"/>
                <a:ea typeface="+mj-ea"/>
                <a:cs typeface="Helvetica Neue" pitchFamily="34" charset="-120"/>
              </a:rPr>
              <a:t>重建</a:t>
            </a:r>
            <a:endParaRPr lang="en-US" sz="2700" dirty="0">
              <a:latin typeface="+mj-ea"/>
              <a:ea typeface="+mj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40080" y="2554224"/>
            <a:ext cx="7863840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1300" dirty="0">
                <a:solidFill>
                  <a:srgbClr val="D6E4F0"/>
                </a:solidFill>
                <a:latin typeface="+mn-ea"/>
                <a:cs typeface="Helvetica Neue" pitchFamily="34" charset="-120"/>
              </a:rPr>
              <a:t>项目方向：</a:t>
            </a:r>
            <a:r>
              <a:rPr lang="en-US" altLang="zh-CN" sz="1300" dirty="0">
                <a:solidFill>
                  <a:srgbClr val="D6E4F0"/>
                </a:solidFill>
                <a:latin typeface="+mn-ea"/>
                <a:cs typeface="Helvetica Neue" pitchFamily="34" charset="-120"/>
              </a:rPr>
              <a:t>3</a:t>
            </a:r>
            <a:r>
              <a:rPr lang="en-US" sz="1300" dirty="0">
                <a:solidFill>
                  <a:srgbClr val="D6E4F0"/>
                </a:solidFill>
                <a:latin typeface="+mn-ea"/>
                <a:cs typeface="Helvetica Neue" pitchFamily="34" charset="-120"/>
              </a:rPr>
              <a:t>D Vision / Feed-forward Gaussian Splatting</a:t>
            </a:r>
          </a:p>
          <a:p>
            <a:pPr marL="0" indent="0" algn="ctr">
              <a:buNone/>
            </a:pPr>
            <a:r>
              <a:rPr lang="zh-CN" altLang="en-US" sz="1300" dirty="0">
                <a:solidFill>
                  <a:srgbClr val="D6E4F0"/>
                </a:solidFill>
                <a:latin typeface="+mn-ea"/>
                <a:cs typeface="Helvetica Neue" pitchFamily="34" charset="-120"/>
              </a:rPr>
              <a:t>题目：基于多视图 </a:t>
            </a:r>
            <a:r>
              <a:rPr lang="en-US" sz="1300" dirty="0" err="1">
                <a:solidFill>
                  <a:srgbClr val="D6E4F0"/>
                </a:solidFill>
                <a:latin typeface="+mn-ea"/>
                <a:cs typeface="Helvetica Neue" pitchFamily="34" charset="-120"/>
              </a:rPr>
              <a:t>Objaverse</a:t>
            </a:r>
            <a:r>
              <a:rPr lang="en-US" sz="1300" dirty="0">
                <a:solidFill>
                  <a:srgbClr val="D6E4F0"/>
                </a:solidFill>
                <a:latin typeface="+mn-ea"/>
                <a:cs typeface="Helvetica Neue" pitchFamily="34" charset="-120"/>
              </a:rPr>
              <a:t> </a:t>
            </a:r>
            <a:r>
              <a:rPr lang="zh-CN" altLang="en-US" sz="1300" dirty="0">
                <a:solidFill>
                  <a:srgbClr val="D6E4F0"/>
                </a:solidFill>
                <a:latin typeface="+mn-ea"/>
                <a:cs typeface="Helvetica Neue" pitchFamily="34" charset="-120"/>
              </a:rPr>
              <a:t>渲染数据的 </a:t>
            </a:r>
            <a:r>
              <a:rPr lang="en-US" altLang="zh-CN" sz="1300" dirty="0">
                <a:solidFill>
                  <a:srgbClr val="D6E4F0"/>
                </a:solidFill>
                <a:latin typeface="+mn-ea"/>
                <a:cs typeface="Helvetica Neue" pitchFamily="34" charset="-120"/>
              </a:rPr>
              <a:t>3</a:t>
            </a:r>
            <a:r>
              <a:rPr lang="en-US" sz="1300" dirty="0">
                <a:solidFill>
                  <a:srgbClr val="D6E4F0"/>
                </a:solidFill>
                <a:latin typeface="+mn-ea"/>
                <a:cs typeface="Helvetica Neue" pitchFamily="34" charset="-120"/>
              </a:rPr>
              <a:t>D Gaussian </a:t>
            </a:r>
            <a:r>
              <a:rPr lang="zh-CN" altLang="en-US" sz="1300" dirty="0">
                <a:solidFill>
                  <a:srgbClr val="D6E4F0"/>
                </a:solidFill>
                <a:latin typeface="+mn-ea"/>
                <a:cs typeface="Helvetica Neue" pitchFamily="34" charset="-120"/>
              </a:rPr>
              <a:t>重建</a:t>
            </a:r>
          </a:p>
          <a:p>
            <a:pPr marL="0" indent="0" algn="ctr">
              <a:buNone/>
            </a:pPr>
            <a:r>
              <a:rPr lang="en-US" sz="1300" dirty="0" err="1">
                <a:solidFill>
                  <a:srgbClr val="D6E4F0"/>
                </a:solidFill>
                <a:latin typeface="+mn-ea"/>
                <a:cs typeface="Helvetica Neue" pitchFamily="34" charset="-120"/>
              </a:rPr>
              <a:t>GroupXX</a:t>
            </a:r>
            <a:r>
              <a:rPr lang="en-US" sz="1300" dirty="0">
                <a:solidFill>
                  <a:srgbClr val="D6E4F0"/>
                </a:solidFill>
                <a:latin typeface="+mn-ea"/>
                <a:cs typeface="Helvetica Neue" pitchFamily="34" charset="-120"/>
              </a:rPr>
              <a:t> / </a:t>
            </a:r>
            <a:r>
              <a:rPr lang="zh-CN" altLang="en-US" sz="1300" dirty="0">
                <a:solidFill>
                  <a:srgbClr val="D6E4F0"/>
                </a:solidFill>
                <a:latin typeface="+mn-ea"/>
                <a:cs typeface="Helvetica Neue" pitchFamily="34" charset="-120"/>
              </a:rPr>
              <a:t>成员：待填写</a:t>
            </a:r>
          </a:p>
          <a:p>
            <a:pPr marL="0" indent="0" algn="ctr">
              <a:buNone/>
            </a:pPr>
            <a:r>
              <a:rPr lang="zh-CN" altLang="en-US" sz="1300" dirty="0">
                <a:solidFill>
                  <a:srgbClr val="D6E4F0"/>
                </a:solidFill>
                <a:latin typeface="+mn-ea"/>
                <a:cs typeface="Helvetica Neue" pitchFamily="34" charset="-120"/>
              </a:rPr>
              <a:t>日期：</a:t>
            </a:r>
            <a:r>
              <a:rPr lang="en-US" altLang="zh-CN" sz="1300" dirty="0">
                <a:solidFill>
                  <a:srgbClr val="D6E4F0"/>
                </a:solidFill>
                <a:latin typeface="+mn-ea"/>
                <a:cs typeface="Helvetica Neue" pitchFamily="34" charset="-120"/>
              </a:rPr>
              <a:t>2026-06-18</a:t>
            </a:r>
            <a:endParaRPr lang="en-US" sz="1300" dirty="0"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汇报路线</a:t>
            </a:r>
            <a:endParaRPr lang="en-US" sz="20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96746"/>
            <a:ext cx="8229600" cy="5006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96746"/>
            <a:ext cx="73152" cy="50063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543050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B2545"/>
                </a:solidFill>
                <a:latin typeface="+mn-ea"/>
                <a:cs typeface="Helvetica Neue" pitchFamily="34" charset="-120"/>
              </a:rPr>
              <a:t>01</a:t>
            </a:r>
            <a:endParaRPr lang="en-US" sz="800" dirty="0">
              <a:latin typeface="+mn-ea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55648" y="148818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20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问题定义</a:t>
            </a:r>
            <a:endParaRPr lang="en-US" sz="1200" dirty="0">
              <a:latin typeface="+mn-ea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950208" y="1506474"/>
            <a:ext cx="4590288" cy="299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000">
                <a:solidFill>
                  <a:srgbClr val="4B5563"/>
                </a:solidFill>
                <a:latin typeface="+mn-ea"/>
                <a:cs typeface="Helvetica Neue" pitchFamily="34" charset="-120"/>
              </a:rPr>
              <a:t>任务、输入输出、当前评价指标。</a:t>
            </a:r>
            <a:endParaRPr lang="en-US" sz="1000" dirty="0">
              <a:latin typeface="+mn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043684"/>
            <a:ext cx="8229600" cy="5006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43684"/>
            <a:ext cx="73152" cy="50063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18998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C9302C"/>
                </a:solidFill>
                <a:latin typeface="+mn-ea"/>
                <a:cs typeface="Helvetica Neue" pitchFamily="34" charset="-120"/>
              </a:rPr>
              <a:t>02</a:t>
            </a:r>
            <a:endParaRPr lang="en-US" sz="800" dirty="0">
              <a:latin typeface="+mn-ea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55648" y="213512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2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数据</a:t>
            </a:r>
            <a:endParaRPr lang="en-US" sz="1200" dirty="0">
              <a:latin typeface="+mn-ea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3950208" y="2153412"/>
            <a:ext cx="4590288" cy="299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+mn-ea"/>
                <a:cs typeface="Helvetica Neue" pitchFamily="34" charset="-120"/>
              </a:rPr>
              <a:t>Objaverse </a:t>
            </a:r>
            <a:r>
              <a:rPr lang="zh-CN" altLang="en-US" sz="1000">
                <a:solidFill>
                  <a:srgbClr val="4B5563"/>
                </a:solidFill>
                <a:latin typeface="+mn-ea"/>
                <a:cs typeface="Helvetica Neue" pitchFamily="34" charset="-120"/>
              </a:rPr>
              <a:t>渲染样本、</a:t>
            </a:r>
            <a:r>
              <a:rPr lang="en-US" altLang="zh-CN" sz="1000">
                <a:solidFill>
                  <a:srgbClr val="4B5563"/>
                </a:solidFill>
                <a:latin typeface="+mn-ea"/>
                <a:cs typeface="Helvetica Neue" pitchFamily="34" charset="-120"/>
              </a:rPr>
              <a:t>7 </a:t>
            </a:r>
            <a:r>
              <a:rPr lang="zh-CN" altLang="en-US" sz="1000">
                <a:solidFill>
                  <a:srgbClr val="4B5563"/>
                </a:solidFill>
                <a:latin typeface="+mn-ea"/>
                <a:cs typeface="Helvetica Neue" pitchFamily="34" charset="-120"/>
              </a:rPr>
              <a:t>视角、相机参数。</a:t>
            </a:r>
            <a:endParaRPr lang="en-US" sz="1000" dirty="0">
              <a:latin typeface="+mn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690622"/>
            <a:ext cx="8229600" cy="5006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90622"/>
            <a:ext cx="73152" cy="50063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2836926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B2545"/>
                </a:solidFill>
                <a:latin typeface="+mn-ea"/>
                <a:cs typeface="Helvetica Neue" pitchFamily="34" charset="-120"/>
              </a:rPr>
              <a:t>03</a:t>
            </a:r>
            <a:endParaRPr lang="en-US" sz="800" dirty="0">
              <a:latin typeface="+mn-ea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755648" y="278206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2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方法</a:t>
            </a:r>
            <a:endParaRPr lang="en-US" sz="1200" dirty="0">
              <a:latin typeface="+mn-ea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3950208" y="2800350"/>
            <a:ext cx="4590288" cy="299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4B5563"/>
                </a:solidFill>
                <a:latin typeface="+mn-ea"/>
                <a:cs typeface="Helvetica Neue" pitchFamily="34" charset="-120"/>
              </a:rPr>
              <a:t>ZeroGS-UNet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 + Plücker ray embedding + </a:t>
            </a:r>
            <a:r>
              <a:rPr lang="en-US" sz="1000" dirty="0" err="1">
                <a:solidFill>
                  <a:srgbClr val="4B5563"/>
                </a:solidFill>
                <a:latin typeface="+mn-ea"/>
                <a:cs typeface="Helvetica Neue" pitchFamily="34" charset="-120"/>
              </a:rPr>
              <a:t>gsplat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 renderer</a:t>
            </a:r>
            <a:endParaRPr lang="en-US" sz="1000" dirty="0">
              <a:latin typeface="+mn-ea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8229600" cy="5006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337560"/>
            <a:ext cx="73152" cy="50063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483864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C9302C"/>
                </a:solidFill>
                <a:latin typeface="+mn-ea"/>
                <a:cs typeface="Helvetica Neue" pitchFamily="34" charset="-120"/>
              </a:rPr>
              <a:t>04</a:t>
            </a:r>
            <a:endParaRPr lang="en-US" sz="800" dirty="0">
              <a:latin typeface="+mn-ea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1755648" y="342900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2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实验设置</a:t>
            </a:r>
            <a:endParaRPr lang="en-US" sz="1200" dirty="0">
              <a:latin typeface="+mn-ea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3950208" y="3447288"/>
            <a:ext cx="4590288" cy="299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000">
                <a:solidFill>
                  <a:srgbClr val="4B5563"/>
                </a:solidFill>
                <a:latin typeface="+mn-ea"/>
                <a:cs typeface="Helvetica Neue" pitchFamily="34" charset="-120"/>
              </a:rPr>
              <a:t>训练配置、</a:t>
            </a:r>
            <a:r>
              <a:rPr lang="en-US" altLang="zh-CN" sz="1000">
                <a:solidFill>
                  <a:srgbClr val="4B5563"/>
                </a:solidFill>
                <a:latin typeface="+mn-ea"/>
                <a:cs typeface="Helvetica Neue" pitchFamily="34" charset="-120"/>
              </a:rPr>
              <a:t>loss</a:t>
            </a:r>
            <a:r>
              <a:rPr lang="zh-CN" altLang="en-US" sz="1000">
                <a:solidFill>
                  <a:srgbClr val="4B5563"/>
                </a:solidFill>
                <a:latin typeface="+mn-ea"/>
                <a:cs typeface="Helvetica Neue" pitchFamily="34" charset="-120"/>
              </a:rPr>
              <a:t>、性能记录。</a:t>
            </a:r>
            <a:endParaRPr lang="en-US" sz="1000" dirty="0">
              <a:latin typeface="+mn-ea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3984498"/>
            <a:ext cx="8229600" cy="5006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984498"/>
            <a:ext cx="73152" cy="50063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413080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B2545"/>
                </a:solidFill>
                <a:latin typeface="+mn-ea"/>
                <a:cs typeface="Helvetica Neue" pitchFamily="34" charset="-120"/>
              </a:rPr>
              <a:t>05</a:t>
            </a:r>
            <a:endParaRPr lang="en-US" sz="800" dirty="0">
              <a:latin typeface="+mn-ea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1755648" y="407593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2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当前结果与讨论</a:t>
            </a:r>
            <a:endParaRPr lang="en-US" sz="1200" dirty="0">
              <a:latin typeface="+mn-ea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3950208" y="4094226"/>
            <a:ext cx="4590288" cy="299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000">
                <a:solidFill>
                  <a:srgbClr val="4B5563"/>
                </a:solidFill>
                <a:latin typeface="+mn-ea"/>
                <a:cs typeface="Helvetica Neue" pitchFamily="34" charset="-120"/>
              </a:rPr>
              <a:t>训练曲线、可视化、失败现象与复现说明。</a:t>
            </a:r>
            <a:endParaRPr lang="en-US" sz="1000" dirty="0">
              <a:latin typeface="+mn-ea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>
                <a:solidFill>
                  <a:srgbClr val="4B5563"/>
                </a:solidFill>
                <a:latin typeface="+mn-ea"/>
                <a:cs typeface="Helvetica Neue" pitchFamily="34" charset="-120"/>
              </a:rPr>
              <a:t>Sources: ai_intro_project_report_template + </a:t>
            </a:r>
            <a:r>
              <a:rPr lang="zh-CN" altLang="en-US" sz="840">
                <a:solidFill>
                  <a:srgbClr val="4B5563"/>
                </a:solidFill>
                <a:latin typeface="+mn-ea"/>
                <a:cs typeface="Helvetica Neue" pitchFamily="34" charset="-120"/>
              </a:rPr>
              <a:t>本项目 </a:t>
            </a:r>
            <a:r>
              <a:rPr lang="en-US" sz="840">
                <a:solidFill>
                  <a:srgbClr val="4B5563"/>
                </a:solidFill>
                <a:latin typeface="+mn-ea"/>
                <a:cs typeface="Helvetica Neue" pitchFamily="34" charset="-120"/>
              </a:rPr>
              <a:t>outputs/zerogs_train</a:t>
            </a:r>
            <a:endParaRPr lang="en-US" sz="840" dirty="0">
              <a:latin typeface="+mn-ea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4B5563"/>
                </a:solidFill>
                <a:latin typeface="+mn-ea"/>
                <a:cs typeface="Helvetica Neue" pitchFamily="34" charset="-120"/>
              </a:rPr>
              <a:t>2/10</a:t>
            </a:r>
            <a:endParaRPr lang="en-US" sz="700" dirty="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zh-CN" sz="20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1. </a:t>
            </a:r>
            <a:r>
              <a:rPr lang="zh-CN" altLang="en-US" sz="20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问题定义</a:t>
            </a:r>
            <a:endParaRPr lang="en-US" sz="2000" dirty="0">
              <a:latin typeface="+mn-e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目标不是单纯生成图片，而是学习可渲染的 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3D Gaussian 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表示。</a:t>
            </a:r>
            <a:endParaRPr lang="en-US" sz="10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05890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61922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5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任务</a:t>
            </a:r>
            <a:endParaRPr lang="en-US" sz="1500" dirty="0">
              <a:latin typeface="+mn-ea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85800" y="2247138"/>
            <a:ext cx="2139696" cy="6492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给定带相机位姿的多视图渲染图像，前馈预测一组 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3D Gaussians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，并通过可微渲染重建目标视角 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RGB 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与 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alpha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。</a:t>
            </a:r>
            <a:endParaRPr lang="en-US" sz="1000" dirty="0">
              <a:latin typeface="+mn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73552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405890"/>
            <a:ext cx="2596896" cy="91440"/>
          </a:xfrm>
          <a:prstGeom prst="rect">
            <a:avLst/>
          </a:prstGeom>
          <a:solidFill>
            <a:srgbClr val="C930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02152" y="1661922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5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输入与输出</a:t>
            </a:r>
            <a:endParaRPr lang="en-US" sz="1500" dirty="0">
              <a:latin typeface="+mn-ea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502152" y="2247138"/>
            <a:ext cx="2139696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输入：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7 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个视角的 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RGB/alpha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、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K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、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c2w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、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w2c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；网络实际输入为 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RGB + Plücker ray embedding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。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输出：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28672 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个 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Gaussian 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参数和 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7 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视角渲染结果。</a:t>
            </a:r>
            <a:endParaRPr lang="en-US" sz="1000" dirty="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89904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405890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18504" y="1661922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5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评价指标</a:t>
            </a:r>
            <a:endParaRPr lang="en-US" sz="1500" dirty="0">
              <a:latin typeface="+mn-ea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318504" y="2247138"/>
            <a:ext cx="2139696" cy="6492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Loss 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约束：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RGB L1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+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mask L1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+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LPIPS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总 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loss 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与 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PSNR</a:t>
            </a:r>
            <a:endParaRPr lang="en-US" sz="1000" dirty="0">
              <a:latin typeface="+mn-ea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4B5563"/>
                </a:solidFill>
                <a:latin typeface="+mn-ea"/>
                <a:cs typeface="Helvetica Neue" pitchFamily="34" charset="-120"/>
              </a:rPr>
              <a:t>3/10</a:t>
            </a:r>
            <a:endParaRPr lang="en-US" sz="700" dirty="0">
              <a:latin typeface="+mn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100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目标：建立端到端 </a:t>
            </a:r>
            <a:r>
              <a:rPr lang="en-US" altLang="zh-CN" sz="100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3DGS </a:t>
            </a:r>
            <a:r>
              <a:rPr lang="zh-CN" altLang="en-US" sz="100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训练流程</a:t>
            </a:r>
            <a:endParaRPr lang="en-US" sz="1000" dirty="0"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zh-CN" sz="20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2. </a:t>
            </a:r>
            <a:r>
              <a:rPr lang="zh-CN" altLang="en-US" sz="20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数据说明</a:t>
            </a:r>
            <a:endParaRPr lang="en-US" sz="20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163751"/>
              </p:ext>
            </p:extLst>
          </p:nvPr>
        </p:nvGraphicFramePr>
        <p:xfrm>
          <a:off x="457200" y="1268730"/>
          <a:ext cx="8229600" cy="2304288"/>
        </p:xfrm>
        <a:graphic>
          <a:graphicData uri="http://schemas.openxmlformats.org/drawingml/2006/table">
            <a:tbl>
              <a:tblPr/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6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项目</a:t>
                      </a:r>
                      <a:endParaRPr lang="en-US" sz="9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内容</a:t>
                      </a:r>
                      <a:endParaRPr lang="en-US" sz="9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9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备注 </a:t>
                      </a:r>
                      <a:endParaRPr lang="en-US" sz="9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9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数据来源</a:t>
                      </a:r>
                      <a:endParaRPr lang="en-US" sz="9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本地渲染的 </a:t>
                      </a:r>
                      <a:r>
                        <a:rPr lang="en-US" sz="850" dirty="0" err="1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Objaverse</a:t>
                      </a:r>
                      <a:r>
                        <a:rPr 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 </a:t>
                      </a: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多视图样本。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由 </a:t>
                      </a:r>
                      <a:r>
                        <a:rPr lang="en-US" altLang="zh-CN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Blender python </a:t>
                      </a:r>
                      <a:r>
                        <a:rPr lang="en-US" altLang="zh-CN" sz="850" dirty="0" err="1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api</a:t>
                      </a:r>
                      <a:r>
                        <a:rPr lang="en-US" altLang="zh-CN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 </a:t>
                      </a: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渲染得到。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9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数据规模</a:t>
                      </a:r>
                      <a:endParaRPr lang="en-US" sz="9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140 </a:t>
                      </a: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个 </a:t>
                      </a:r>
                      <a:r>
                        <a:rPr lang="en-US" sz="850" dirty="0" err="1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cameras.json</a:t>
                      </a:r>
                      <a:r>
                        <a:rPr 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 </a:t>
                      </a: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样本；每个样本含 </a:t>
                      </a:r>
                      <a:r>
                        <a:rPr lang="en-US" sz="850" dirty="0" err="1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cond</a:t>
                      </a:r>
                      <a:r>
                        <a:rPr 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 + 6 target,</a:t>
                      </a: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 共 </a:t>
                      </a:r>
                      <a:r>
                        <a:rPr lang="en-US" altLang="zh-CN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7 </a:t>
                      </a: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视角。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图像为 </a:t>
                      </a:r>
                      <a:r>
                        <a:rPr lang="en-US" altLang="zh-CN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256</a:t>
                      </a:r>
                      <a:r>
                        <a:rPr 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x256 RGB/alpha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90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预处理</a:t>
                      </a:r>
                      <a:endParaRPr lang="en-US" sz="9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读取 </a:t>
                      </a:r>
                      <a:r>
                        <a:rPr 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RGB/alpha,</a:t>
                      </a: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 缩放至 </a:t>
                      </a:r>
                      <a:r>
                        <a:rPr lang="en-US" altLang="zh-CN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256</a:t>
                      </a: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；按分辨率缩放相机内参；生成 </a:t>
                      </a:r>
                      <a:r>
                        <a:rPr 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Plücker ray embedding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像素归一化到 </a:t>
                      </a:r>
                      <a:r>
                        <a:rPr lang="en-US" altLang="zh-CN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[0,1]</a:t>
                      </a: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。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90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划分方式</a:t>
                      </a:r>
                      <a:endParaRPr lang="en-US" sz="9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当前 </a:t>
                      </a:r>
                      <a:r>
                        <a:rPr 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config </a:t>
                      </a: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中 </a:t>
                      </a:r>
                      <a:r>
                        <a:rPr lang="en-US" sz="850" dirty="0" err="1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train_root</a:t>
                      </a:r>
                      <a:r>
                        <a:rPr 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 </a:t>
                      </a: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与 </a:t>
                      </a:r>
                      <a:r>
                        <a:rPr lang="en-US" sz="850" dirty="0" err="1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val_root</a:t>
                      </a:r>
                      <a:r>
                        <a:rPr 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 </a:t>
                      </a: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均指向同一批 </a:t>
                      </a:r>
                      <a:r>
                        <a:rPr lang="en-US" altLang="zh-CN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renders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目前 </a:t>
                      </a:r>
                      <a:r>
                        <a:rPr lang="en-US" altLang="zh-CN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validation </a:t>
                      </a: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仅作实验测试，暂不对泛化能力做出解释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9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0"/>
                        </a:rPr>
                        <a:t>后续改进</a:t>
                      </a:r>
                      <a:endParaRPr lang="en-US" sz="9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最终需要划分 </a:t>
                      </a:r>
                      <a:r>
                        <a:rPr 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train/</a:t>
                      </a:r>
                      <a:r>
                        <a:rPr lang="en-US" sz="850" dirty="0" err="1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val</a:t>
                      </a:r>
                      <a:r>
                        <a:rPr 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/test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避免同一物体不同 </a:t>
                      </a:r>
                      <a:r>
                        <a:rPr lang="en-US" altLang="zh-CN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ref </a:t>
                      </a:r>
                      <a:r>
                        <a:rPr lang="zh-CN" altLang="en-US" sz="85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同时出现在训练和测试。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4B5563"/>
                </a:solidFill>
                <a:latin typeface="+mn-ea"/>
                <a:cs typeface="Helvetica Neue" pitchFamily="34" charset="-120"/>
              </a:rPr>
              <a:t>4/10</a:t>
            </a:r>
            <a:endParaRPr lang="en-US" sz="700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zh-CN" sz="200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3. </a:t>
            </a:r>
            <a:r>
              <a:rPr lang="zh-CN" altLang="en-US" sz="200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方法总览</a:t>
            </a:r>
            <a:endParaRPr lang="en-US" sz="2000" dirty="0">
              <a:latin typeface="+mn-e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核心思想：把相机几何显式编码进 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U-Net 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输入，再用可微 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3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DGS renderer 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监督。</a:t>
            </a:r>
            <a:endParaRPr lang="en-US" sz="10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58968" y="1360170"/>
            <a:ext cx="3227832" cy="323469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58968" y="1360170"/>
            <a:ext cx="91440" cy="323469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33288" y="1588770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200">
                <a:solidFill>
                  <a:srgbClr val="0B2545"/>
                </a:solidFill>
                <a:latin typeface="+mn-ea"/>
                <a:cs typeface="Helvetica Neue" pitchFamily="34" charset="-120"/>
              </a:rPr>
              <a:t>FOCUS</a:t>
            </a:r>
            <a:endParaRPr lang="en-US" sz="1200" dirty="0">
              <a:latin typeface="+mn-ea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787898" y="1724152"/>
            <a:ext cx="2770632" cy="21808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 err="1">
                <a:solidFill>
                  <a:srgbClr val="FFFFFF"/>
                </a:solidFill>
                <a:latin typeface="+mn-ea"/>
                <a:cs typeface="Helvetica Neue" pitchFamily="34" charset="-120"/>
              </a:rPr>
              <a:t>ZeroGS-UNet</a:t>
            </a:r>
            <a:r>
              <a:rPr lang="en-US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 </a:t>
            </a:r>
            <a:r>
              <a:rPr lang="zh-CN" altLang="en-US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编码 </a:t>
            </a:r>
            <a:r>
              <a:rPr lang="en-US" altLang="zh-CN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7 </a:t>
            </a:r>
            <a:r>
              <a:rPr lang="zh-CN" altLang="en-US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视角 </a:t>
            </a:r>
            <a:r>
              <a:rPr lang="en-US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RGB + rays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1000" dirty="0">
              <a:solidFill>
                <a:srgbClr val="FFFFFF"/>
              </a:solidFill>
              <a:latin typeface="+mn-ea"/>
              <a:cs typeface="Helvetica Neue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zh-CN" altLang="en-US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监督：目前监督为</a:t>
            </a:r>
            <a:r>
              <a:rPr lang="en-US" altLang="zh-CN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2</a:t>
            </a:r>
            <a:r>
              <a:rPr lang="zh-CN" altLang="en-US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维一致性监督</a:t>
            </a:r>
            <a:endParaRPr lang="en-US" sz="1000" dirty="0">
              <a:solidFill>
                <a:srgbClr val="FFFFFF"/>
              </a:solidFill>
              <a:latin typeface="+mn-ea"/>
              <a:cs typeface="Helvetica Neue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1000" dirty="0">
              <a:solidFill>
                <a:srgbClr val="FFFFFF"/>
              </a:solidFill>
              <a:latin typeface="+mn-ea"/>
              <a:cs typeface="Helvetica Neue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zh-CN" altLang="en-US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输出 </a:t>
            </a:r>
            <a:r>
              <a:rPr lang="en-US" altLang="zh-CN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64x64 </a:t>
            </a:r>
            <a:r>
              <a:rPr lang="zh-CN" altLang="en-US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的 </a:t>
            </a:r>
            <a:r>
              <a:rPr lang="en-US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Gaussian map</a:t>
            </a:r>
            <a:r>
              <a:rPr lang="zh-CN" altLang="en-US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，经 </a:t>
            </a:r>
            <a:r>
              <a:rPr lang="en-US" sz="1000" dirty="0" err="1">
                <a:solidFill>
                  <a:srgbClr val="FFFFFF"/>
                </a:solidFill>
                <a:latin typeface="+mn-ea"/>
                <a:cs typeface="Helvetica Neue" pitchFamily="34" charset="-120"/>
              </a:rPr>
              <a:t>gsplat</a:t>
            </a:r>
            <a:r>
              <a:rPr lang="en-US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 </a:t>
            </a:r>
            <a:r>
              <a:rPr lang="zh-CN" altLang="en-US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渲染后用 </a:t>
            </a:r>
            <a:r>
              <a:rPr lang="en-US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RGB / mask / LPIPS </a:t>
            </a:r>
            <a:r>
              <a:rPr lang="zh-CN" altLang="en-US" sz="1000" dirty="0">
                <a:solidFill>
                  <a:srgbClr val="FFFFFF"/>
                </a:solidFill>
                <a:latin typeface="+mn-ea"/>
                <a:cs typeface="Helvetica Neue" pitchFamily="34" charset="-120"/>
              </a:rPr>
              <a:t>联合训练。</a:t>
            </a:r>
            <a:endParaRPr lang="en-US" altLang="zh-CN" sz="1000" dirty="0">
              <a:solidFill>
                <a:srgbClr val="FFFFFF"/>
              </a:solidFill>
              <a:latin typeface="+mn-ea"/>
              <a:cs typeface="Helvetica Neue" pitchFamily="34" charset="-120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1000" dirty="0">
              <a:solidFill>
                <a:srgbClr val="FFFFFF"/>
              </a:solidFill>
              <a:latin typeface="+mn-ea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altLang="zh-CN" sz="1000" dirty="0">
                <a:solidFill>
                  <a:srgbClr val="FFFFFF"/>
                </a:solidFill>
                <a:latin typeface="+mn-ea"/>
              </a:rPr>
              <a:t>LPIPS: VGG16 trunk, [-1, 1]</a:t>
            </a: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endParaRPr lang="en-US" sz="1000" dirty="0">
              <a:solidFill>
                <a:srgbClr val="FFFFFF"/>
              </a:solidFill>
              <a:latin typeface="+mn-ea"/>
            </a:endParaRPr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zh-CN" altLang="en-US" sz="1000" dirty="0">
                <a:solidFill>
                  <a:srgbClr val="FFFFFF"/>
                </a:solidFill>
                <a:latin typeface="+mn-ea"/>
              </a:rPr>
              <a:t>整体思路仿照 </a:t>
            </a:r>
            <a:r>
              <a:rPr lang="en-US" altLang="zh-CN" sz="1000" dirty="0">
                <a:solidFill>
                  <a:srgbClr val="FFFFFF"/>
                </a:solidFill>
                <a:latin typeface="+mn-ea"/>
              </a:rPr>
              <a:t>U-net </a:t>
            </a:r>
            <a:endParaRPr lang="en-US" sz="10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4B5563"/>
                </a:solidFill>
                <a:latin typeface="+mn-ea"/>
                <a:cs typeface="Helvetica Neue" pitchFamily="34" charset="-120"/>
              </a:rPr>
              <a:t>5/10</a:t>
            </a:r>
            <a:endParaRPr lang="en-US" sz="700" dirty="0">
              <a:latin typeface="+mn-ea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DADCF83-0F41-4373-FF56-D2B8D437C04B}"/>
              </a:ext>
            </a:extLst>
          </p:cNvPr>
          <p:cNvSpPr/>
          <p:nvPr/>
        </p:nvSpPr>
        <p:spPr>
          <a:xfrm>
            <a:off x="457200" y="1371600"/>
            <a:ext cx="1041400" cy="685800"/>
          </a:xfrm>
          <a:prstGeom prst="roundRect">
            <a:avLst/>
          </a:prstGeom>
          <a:solidFill>
            <a:srgbClr val="F3F3F3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7 views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RGB/alpha + cameras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2F2856A-2D19-76B3-7DCD-BA00053D7A9B}"/>
              </a:ext>
            </a:extLst>
          </p:cNvPr>
          <p:cNvSpPr/>
          <p:nvPr/>
        </p:nvSpPr>
        <p:spPr>
          <a:xfrm>
            <a:off x="1625600" y="1371600"/>
            <a:ext cx="1092200" cy="685800"/>
          </a:xfrm>
          <a:prstGeom prst="roundRect">
            <a:avLst/>
          </a:prstGeom>
          <a:solidFill>
            <a:srgbClr val="F3F3F3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Plücker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ray embedding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0FDBD88-BC83-BFE2-B740-A8D6F2427777}"/>
              </a:ext>
            </a:extLst>
          </p:cNvPr>
          <p:cNvSpPr/>
          <p:nvPr/>
        </p:nvSpPr>
        <p:spPr>
          <a:xfrm>
            <a:off x="2844800" y="1371600"/>
            <a:ext cx="1168400" cy="685800"/>
          </a:xfrm>
          <a:prstGeom prst="roundRect">
            <a:avLst/>
          </a:prstGeom>
          <a:solidFill>
            <a:srgbClr val="F3F3F3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ZeroGS-UNet</a:t>
            </a:r>
            <a:endParaRPr lang="en-US" altLang="zh-CN" sz="9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view/global attention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2E96543-D5F8-6FE7-5392-6678EADC704E}"/>
              </a:ext>
            </a:extLst>
          </p:cNvPr>
          <p:cNvSpPr/>
          <p:nvPr/>
        </p:nvSpPr>
        <p:spPr>
          <a:xfrm>
            <a:off x="1193800" y="2413000"/>
            <a:ext cx="1371600" cy="685800"/>
          </a:xfrm>
          <a:prstGeom prst="roundRect">
            <a:avLst/>
          </a:prstGeom>
          <a:solidFill>
            <a:srgbClr val="F3F3F3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fi-FI" altLang="zh-CN" sz="900" dirty="0">
                <a:solidFill>
                  <a:schemeClr val="tx1"/>
                </a:solidFill>
                <a:latin typeface="+mn-ea"/>
              </a:rPr>
              <a:t>Gaussian map</a:t>
            </a:r>
          </a:p>
          <a:p>
            <a:pPr algn="ctr"/>
            <a:r>
              <a:rPr lang="fi-FI" altLang="zh-CN" sz="900" dirty="0">
                <a:solidFill>
                  <a:schemeClr val="tx1"/>
                </a:solidFill>
                <a:latin typeface="+mn-ea"/>
              </a:rPr>
              <a:t>V x 64 x 64 x 14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79320F1-5C50-231B-DFE6-1A99D30724CD}"/>
              </a:ext>
            </a:extLst>
          </p:cNvPr>
          <p:cNvSpPr/>
          <p:nvPr/>
        </p:nvSpPr>
        <p:spPr>
          <a:xfrm>
            <a:off x="2717800" y="2413000"/>
            <a:ext cx="1168400" cy="685800"/>
          </a:xfrm>
          <a:prstGeom prst="roundRect">
            <a:avLst/>
          </a:prstGeom>
          <a:solidFill>
            <a:srgbClr val="F3F3F3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900" dirty="0" err="1">
                <a:solidFill>
                  <a:schemeClr val="tx1"/>
                </a:solidFill>
                <a:latin typeface="+mn-ea"/>
              </a:rPr>
              <a:t>gsplat</a:t>
            </a:r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 renderer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RGB + alpha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1300489-3A9D-B5D8-F504-5E70E377BB2C}"/>
              </a:ext>
            </a:extLst>
          </p:cNvPr>
          <p:cNvSpPr/>
          <p:nvPr/>
        </p:nvSpPr>
        <p:spPr>
          <a:xfrm>
            <a:off x="1905000" y="3454400"/>
            <a:ext cx="1295400" cy="685800"/>
          </a:xfrm>
          <a:prstGeom prst="roundRect">
            <a:avLst/>
          </a:prstGeom>
          <a:solidFill>
            <a:srgbClr val="F3F3F3"/>
          </a:solidFill>
          <a:ln>
            <a:solidFill>
              <a:srgbClr val="8080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50800" rIns="76200" bIns="50800" rtlCol="0" anchor="ctr"/>
          <a:lstStyle/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Loss</a:t>
            </a:r>
          </a:p>
          <a:p>
            <a:pPr algn="ctr"/>
            <a:r>
              <a:rPr lang="en-US" altLang="zh-CN" sz="900" dirty="0">
                <a:solidFill>
                  <a:schemeClr val="tx1"/>
                </a:solidFill>
                <a:latin typeface="+mn-ea"/>
              </a:rPr>
              <a:t>RGB + mask + LPIPS</a:t>
            </a:r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zh-CN" sz="20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4. </a:t>
            </a:r>
            <a:r>
              <a:rPr lang="zh-CN" altLang="en-US" sz="20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实验设置</a:t>
            </a:r>
            <a:endParaRPr lang="en-US" sz="20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314450"/>
            <a:ext cx="0" cy="318897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908935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22776" y="1351026"/>
            <a:ext cx="402336" cy="402336"/>
          </a:xfrm>
          <a:prstGeom prst="ellipse">
            <a:avLst/>
          </a:prstGeom>
          <a:solidFill>
            <a:srgbClr val="0B2545">
              <a:alpha val="14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332738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0B2545"/>
                </a:solidFill>
                <a:latin typeface="+mn-ea"/>
                <a:cs typeface="Helvetica Neue" pitchFamily="34" charset="-120"/>
              </a:rPr>
              <a:t>01</a:t>
            </a:r>
            <a:endParaRPr lang="en-US" sz="1100" dirty="0">
              <a:latin typeface="+mn-ea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1698498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3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环境</a:t>
            </a:r>
            <a:endParaRPr lang="en-US" sz="1300" dirty="0">
              <a:latin typeface="+mn-ea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57200" y="2192274"/>
            <a:ext cx="3794760" cy="4880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20" dirty="0" err="1">
                <a:solidFill>
                  <a:srgbClr val="4B5563"/>
                </a:solidFill>
                <a:latin typeface="+mn-ea"/>
                <a:cs typeface="Helvetica Neue" pitchFamily="34" charset="-120"/>
              </a:rPr>
              <a:t>conda</a:t>
            </a:r>
            <a:r>
              <a:rPr 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 env: 3d</a:t>
            </a:r>
            <a:r>
              <a:rPr lang="en-US" altLang="zh-CN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+</a:t>
            </a:r>
            <a:r>
              <a:rPr 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PyTorch CUDA 12.1,</a:t>
            </a:r>
            <a:r>
              <a:rPr lang="zh-CN" alt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 </a:t>
            </a:r>
            <a:r>
              <a:rPr lang="en-US" sz="920" dirty="0" err="1">
                <a:solidFill>
                  <a:srgbClr val="4B5563"/>
                </a:solidFill>
                <a:latin typeface="+mn-ea"/>
                <a:cs typeface="Helvetica Neue" pitchFamily="34" charset="-120"/>
              </a:rPr>
              <a:t>gsplat</a:t>
            </a:r>
            <a:r>
              <a:rPr 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 + </a:t>
            </a:r>
            <a:r>
              <a:rPr lang="en-US" sz="920" dirty="0" err="1">
                <a:solidFill>
                  <a:srgbClr val="4B5563"/>
                </a:solidFill>
                <a:latin typeface="+mn-ea"/>
                <a:cs typeface="Helvetica Neue" pitchFamily="34" charset="-120"/>
              </a:rPr>
              <a:t>lpips</a:t>
            </a:r>
            <a:endParaRPr lang="en-US" sz="920" dirty="0">
              <a:solidFill>
                <a:srgbClr val="4B5563"/>
              </a:solidFill>
              <a:latin typeface="+mn-ea"/>
              <a:cs typeface="Helvetica Neue" pitchFamily="34" charset="-120"/>
            </a:endParaRPr>
          </a:p>
          <a:p>
            <a:pPr marL="0" indent="0" algn="l">
              <a:spcAft>
                <a:spcPts val="300"/>
              </a:spcAft>
              <a:buNone/>
            </a:pPr>
            <a:r>
              <a:rPr 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GPU </a:t>
            </a:r>
            <a:r>
              <a:rPr lang="zh-CN" alt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显存约 </a:t>
            </a:r>
            <a:r>
              <a:rPr lang="en-US" altLang="zh-CN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8</a:t>
            </a:r>
            <a:r>
              <a:rPr 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GB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GPU EMA util 76.3%, </a:t>
            </a:r>
            <a:r>
              <a:rPr lang="zh-CN" alt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显存 </a:t>
            </a:r>
            <a:r>
              <a:rPr lang="en-US" altLang="zh-CN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7803 </a:t>
            </a:r>
            <a:r>
              <a:rPr 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MB / 8188 MB</a:t>
            </a:r>
            <a:r>
              <a:rPr lang="zh-CN" alt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。</a:t>
            </a:r>
            <a:endParaRPr lang="en-US" sz="92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93024" y="1351026"/>
            <a:ext cx="402336" cy="402336"/>
          </a:xfrm>
          <a:prstGeom prst="ellipse">
            <a:avLst/>
          </a:prstGeom>
          <a:solidFill>
            <a:srgbClr val="C9302C">
              <a:alpha val="14000"/>
            </a:srgbClr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27448" y="1332738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C9302C"/>
                </a:solidFill>
                <a:latin typeface="+mn-ea"/>
                <a:cs typeface="Helvetica Neue" pitchFamily="34" charset="-120"/>
              </a:rPr>
              <a:t>02</a:t>
            </a:r>
            <a:endParaRPr lang="en-US" sz="1100" dirty="0">
              <a:latin typeface="+mn-ea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727448" y="1698498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3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随机性</a:t>
            </a:r>
            <a:endParaRPr lang="en-US" sz="1300" dirty="0">
              <a:latin typeface="+mn-ea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727448" y="2192274"/>
            <a:ext cx="3794760" cy="4880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zh-CN" alt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为保证可复现性，</a:t>
            </a:r>
            <a:r>
              <a:rPr lang="en-US" altLang="zh-CN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seed=42</a:t>
            </a:r>
            <a:endParaRPr lang="en-US" sz="920" dirty="0">
              <a:latin typeface="+mn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922776" y="3100959"/>
            <a:ext cx="402336" cy="402336"/>
          </a:xfrm>
          <a:prstGeom prst="ellipse">
            <a:avLst/>
          </a:prstGeom>
          <a:solidFill>
            <a:srgbClr val="0B2545">
              <a:alpha val="14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082671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0B2545"/>
                </a:solidFill>
                <a:latin typeface="+mn-ea"/>
                <a:cs typeface="Helvetica Neue" pitchFamily="34" charset="-120"/>
              </a:rPr>
              <a:t>03</a:t>
            </a:r>
            <a:endParaRPr lang="en-US" sz="1100" dirty="0">
              <a:latin typeface="+mn-ea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57200" y="3448431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3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训练细节</a:t>
            </a:r>
            <a:endParaRPr lang="en-US" sz="1300" dirty="0">
              <a:latin typeface="+mn-ea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57200" y="3729624"/>
            <a:ext cx="3794760" cy="609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zh-CN" alt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目标 </a:t>
            </a:r>
            <a:r>
              <a:rPr 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epochs=500 </a:t>
            </a:r>
            <a:r>
              <a:rPr lang="zh-CN" alt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；</a:t>
            </a:r>
            <a:r>
              <a:rPr 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batch=1 </a:t>
            </a:r>
            <a:r>
              <a:rPr lang="zh-CN" alt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；</a:t>
            </a:r>
            <a:r>
              <a:rPr lang="en-US" sz="920" dirty="0" err="1">
                <a:solidFill>
                  <a:srgbClr val="4B5563"/>
                </a:solidFill>
                <a:latin typeface="+mn-ea"/>
                <a:cs typeface="Helvetica Neue" pitchFamily="34" charset="-120"/>
              </a:rPr>
              <a:t>lr</a:t>
            </a:r>
            <a:r>
              <a:rPr 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=1e-4 </a:t>
            </a:r>
            <a:r>
              <a:rPr lang="zh-CN" alt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；</a:t>
            </a:r>
            <a:r>
              <a:rPr lang="en-US" sz="920" dirty="0" err="1">
                <a:solidFill>
                  <a:srgbClr val="4B5563"/>
                </a:solidFill>
                <a:latin typeface="+mn-ea"/>
                <a:cs typeface="Helvetica Neue" pitchFamily="34" charset="-120"/>
              </a:rPr>
              <a:t>AdamW</a:t>
            </a:r>
            <a:r>
              <a:rPr 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 </a:t>
            </a:r>
            <a:r>
              <a:rPr lang="zh-CN" alt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；</a:t>
            </a:r>
            <a:r>
              <a:rPr 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AMP </a:t>
            </a:r>
            <a:r>
              <a:rPr lang="zh-CN" alt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；</a:t>
            </a:r>
            <a:r>
              <a:rPr lang="en-US" sz="920" dirty="0" err="1">
                <a:solidFill>
                  <a:srgbClr val="4B5563"/>
                </a:solidFill>
                <a:latin typeface="+mn-ea"/>
                <a:cs typeface="Helvetica Neue" pitchFamily="34" charset="-120"/>
              </a:rPr>
              <a:t>grad_clip</a:t>
            </a:r>
            <a:r>
              <a:rPr 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=1.0 </a:t>
            </a:r>
            <a:r>
              <a:rPr lang="zh-CN" alt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；</a:t>
            </a:r>
            <a:r>
              <a:rPr 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cosine scheduler</a:t>
            </a:r>
            <a:endParaRPr lang="en-US" sz="920" dirty="0">
              <a:latin typeface="+mn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93024" y="3100959"/>
            <a:ext cx="402336" cy="402336"/>
          </a:xfrm>
          <a:prstGeom prst="ellipse">
            <a:avLst/>
          </a:prstGeom>
          <a:solidFill>
            <a:srgbClr val="C9302C">
              <a:alpha val="14000"/>
            </a:srgbClr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27448" y="3082671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C9302C"/>
                </a:solidFill>
                <a:latin typeface="+mn-ea"/>
                <a:cs typeface="Helvetica Neue" pitchFamily="34" charset="-120"/>
              </a:rPr>
              <a:t>04</a:t>
            </a:r>
            <a:endParaRPr lang="en-US" sz="1100" dirty="0">
              <a:latin typeface="+mn-ea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727448" y="3448431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3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超参搜索</a:t>
            </a:r>
            <a:endParaRPr lang="en-US" sz="1300" dirty="0">
              <a:latin typeface="+mn-ea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4727448" y="3942207"/>
            <a:ext cx="3794760" cy="4880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zh-CN" alt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当前为单一主配置实验；未做消融</a:t>
            </a:r>
            <a:r>
              <a:rPr lang="en-US" altLang="zh-CN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/</a:t>
            </a:r>
            <a:r>
              <a:rPr lang="zh-CN" alt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系统搜索。后续我们将继续做模型规模、 </a:t>
            </a:r>
            <a:r>
              <a:rPr lang="en-US" altLang="zh-CN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loss </a:t>
            </a:r>
            <a:r>
              <a:rPr lang="zh-CN" alt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权重、</a:t>
            </a:r>
            <a:r>
              <a:rPr lang="en-US" altLang="zh-CN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opacity/scale </a:t>
            </a:r>
            <a:r>
              <a:rPr lang="zh-CN" altLang="en-US" sz="92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约束等对比。</a:t>
            </a:r>
            <a:endParaRPr lang="en-US" sz="920" dirty="0">
              <a:latin typeface="+mn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4B5563"/>
                </a:solidFill>
                <a:latin typeface="+mn-ea"/>
                <a:cs typeface="Helvetica Neue" pitchFamily="34" charset="-120"/>
              </a:rPr>
              <a:t>6/10</a:t>
            </a:r>
            <a:endParaRPr lang="en-US" sz="700" dirty="0">
              <a:latin typeface="+mn-ea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92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性能快照：</a:t>
            </a:r>
            <a:r>
              <a:rPr lang="en-US" sz="92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iteration EMA 540.1 </a:t>
            </a:r>
            <a:r>
              <a:rPr lang="en-US" sz="920" b="1" dirty="0" err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ms；model</a:t>
            </a:r>
            <a:r>
              <a:rPr lang="en-US" sz="92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 forward 136.3 </a:t>
            </a:r>
            <a:r>
              <a:rPr lang="en-US" sz="920" b="1" dirty="0" err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ms；backward</a:t>
            </a:r>
            <a:r>
              <a:rPr lang="en-US" sz="92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 289.9 </a:t>
            </a:r>
            <a:r>
              <a:rPr lang="en-US" sz="920" b="1" dirty="0" err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ms</a:t>
            </a:r>
            <a:r>
              <a:rPr lang="en-US" sz="92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。</a:t>
            </a:r>
            <a:endParaRPr lang="en-US" sz="920" dirty="0"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zh-CN" sz="200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5. </a:t>
            </a:r>
            <a:r>
              <a:rPr lang="zh-CN" altLang="en-US" sz="200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当前主结果</a:t>
            </a:r>
            <a:endParaRPr lang="en-US" sz="20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50442"/>
            <a:ext cx="40050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1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训练指标快照</a:t>
            </a:r>
            <a:endParaRPr lang="en-US" sz="1100" dirty="0">
              <a:latin typeface="+mn-ea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803676"/>
              </p:ext>
            </p:extLst>
          </p:nvPr>
        </p:nvGraphicFramePr>
        <p:xfrm>
          <a:off x="457200" y="1533906"/>
          <a:ext cx="4005073" cy="1412748"/>
        </p:xfrm>
        <a:graphic>
          <a:graphicData uri="http://schemas.openxmlformats.org/drawingml/2006/table">
            <a:tbl>
              <a:tblPr/>
              <a:tblGrid>
                <a:gridCol w="921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10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12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5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记录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Loss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RGB / Mask / LPIPS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PSNR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5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备注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latest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0.0707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0.0398 / 0.0322 / 0.1479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22.75 dB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last 20 logs mean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0.0723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—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22.38 dB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训练稳定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best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待填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0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待填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0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待填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1" y="3769614"/>
            <a:ext cx="4005072" cy="2468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zh-CN" altLang="en-US" sz="900" dirty="0">
                <a:latin typeface="+mn-ea"/>
              </a:rPr>
              <a:t>在训练集上稳定，但由于验证集未做区分，对泛化性暂无保证。</a:t>
            </a:r>
            <a:endParaRPr lang="en-US" sz="900" dirty="0">
              <a:latin typeface="+mn-ea"/>
            </a:endParaRPr>
          </a:p>
        </p:txBody>
      </p:sp>
      <p:sp>
        <p:nvSpPr>
          <p:cNvPr id="7" name="Text 6"/>
          <p:cNvSpPr txBox="1"/>
          <p:nvPr/>
        </p:nvSpPr>
        <p:spPr>
          <a:xfrm>
            <a:off x="4681728" y="1250442"/>
            <a:ext cx="40050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00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训练曲线</a:t>
            </a:r>
            <a:endParaRPr lang="en-US" sz="1000" dirty="0">
              <a:latin typeface="+mn-ea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4B5563"/>
                </a:solidFill>
                <a:latin typeface="+mn-ea"/>
                <a:cs typeface="Helvetica Neue" pitchFamily="34" charset="-120"/>
              </a:rPr>
              <a:t>7/10</a:t>
            </a:r>
            <a:endParaRPr lang="en-US" sz="700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zh-CN" sz="200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6. </a:t>
            </a:r>
            <a:r>
              <a:rPr lang="zh-CN" altLang="en-US" sz="2000" b="1" dirty="0">
                <a:solidFill>
                  <a:srgbClr val="1B2838"/>
                </a:solidFill>
                <a:latin typeface="+mn-ea"/>
                <a:cs typeface="Helvetica Neue" pitchFamily="34" charset="-120"/>
              </a:rPr>
              <a:t>当前限制</a:t>
            </a:r>
            <a:endParaRPr lang="en-US" sz="20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704882"/>
              </p:ext>
            </p:extLst>
          </p:nvPr>
        </p:nvGraphicFramePr>
        <p:xfrm>
          <a:off x="457200" y="1268730"/>
          <a:ext cx="4000500" cy="2311399"/>
        </p:xfrm>
        <a:graphic>
          <a:graphicData uri="http://schemas.openxmlformats.org/drawingml/2006/table">
            <a:tbl>
              <a:tblPr/>
              <a:tblGrid>
                <a:gridCol w="560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0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76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2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案例</a:t>
                      </a:r>
                      <a:endParaRPr lang="en-US" sz="82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2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现象</a:t>
                      </a:r>
                      <a:endParaRPr lang="en-US" sz="82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2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可能原因</a:t>
                      </a:r>
                      <a:endParaRPr lang="en-US" sz="82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2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改进方向</a:t>
                      </a:r>
                      <a:endParaRPr lang="en-US" sz="82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5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Case 1</a:t>
                      </a:r>
                      <a:endParaRPr lang="en-US" sz="7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700" dirty="0">
                          <a:latin typeface="+mn-ea"/>
                          <a:ea typeface="+mn-ea"/>
                          <a:cs typeface="Helvetica Neue" pitchFamily="34" charset="0"/>
                        </a:rPr>
                        <a:t>模糊</a:t>
                      </a:r>
                      <a:endParaRPr lang="en-US" sz="7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700" dirty="0">
                          <a:latin typeface="+mn-ea"/>
                          <a:ea typeface="+mn-ea"/>
                          <a:cs typeface="Helvetica Neue" pitchFamily="34" charset="0"/>
                        </a:rPr>
                        <a:t>Gaussian </a:t>
                      </a:r>
                      <a:r>
                        <a:rPr lang="zh-CN" altLang="en-US" sz="700" dirty="0">
                          <a:latin typeface="+mn-ea"/>
                          <a:ea typeface="+mn-ea"/>
                          <a:cs typeface="Helvetica Neue" pitchFamily="34" charset="0"/>
                        </a:rPr>
                        <a:t>在 </a:t>
                      </a:r>
                      <a:r>
                        <a:rPr lang="en-US" altLang="zh-CN" sz="700" dirty="0">
                          <a:latin typeface="+mn-ea"/>
                          <a:ea typeface="+mn-ea"/>
                          <a:cs typeface="Helvetica Neue" pitchFamily="34" charset="0"/>
                        </a:rPr>
                        <a:t>opacity </a:t>
                      </a:r>
                      <a:r>
                        <a:rPr lang="zh-CN" altLang="en-US" sz="700" dirty="0">
                          <a:latin typeface="+mn-ea"/>
                          <a:ea typeface="+mn-ea"/>
                          <a:cs typeface="Helvetica Neue" pitchFamily="34" charset="0"/>
                        </a:rPr>
                        <a:t>小而 </a:t>
                      </a:r>
                      <a:r>
                        <a:rPr lang="en-US" altLang="zh-CN" sz="700" dirty="0">
                          <a:latin typeface="+mn-ea"/>
                          <a:ea typeface="+mn-ea"/>
                          <a:cs typeface="Helvetica Neue" pitchFamily="34" charset="0"/>
                        </a:rPr>
                        <a:t>scale </a:t>
                      </a:r>
                      <a:r>
                        <a:rPr lang="zh-CN" altLang="en-US" sz="700" dirty="0">
                          <a:latin typeface="+mn-ea"/>
                          <a:ea typeface="+mn-ea"/>
                          <a:cs typeface="Helvetica Neue" pitchFamily="34" charset="0"/>
                        </a:rPr>
                        <a:t>大时容易模糊</a:t>
                      </a:r>
                      <a:endParaRPr lang="en-US" sz="7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7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引入 </a:t>
                      </a:r>
                      <a:r>
                        <a:rPr lang="en-US" sz="7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opacity </a:t>
                      </a:r>
                      <a:r>
                        <a:rPr lang="zh-CN" altLang="en-US" sz="7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正则、</a:t>
                      </a:r>
                      <a:r>
                        <a:rPr lang="en-US" sz="7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scale </a:t>
                      </a:r>
                      <a:r>
                        <a:rPr lang="zh-CN" altLang="en-US" sz="7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范围的 </a:t>
                      </a:r>
                      <a:r>
                        <a:rPr lang="en-US" altLang="zh-CN" sz="7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Gaussian</a:t>
                      </a:r>
                      <a:r>
                        <a:rPr lang="zh-CN" altLang="en-US" sz="7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0"/>
                        </a:rPr>
                        <a:t>约束</a:t>
                      </a:r>
                      <a:endParaRPr lang="en-US" altLang="zh-CN" sz="700" dirty="0">
                        <a:solidFill>
                          <a:srgbClr val="1B2838"/>
                        </a:solidFill>
                        <a:latin typeface="+mn-ea"/>
                        <a:ea typeface="+mn-ea"/>
                        <a:cs typeface="Helvetica Neue" pitchFamily="34" charset="-12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zh-CN" altLang="en-US" sz="7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0"/>
                        </a:rPr>
                        <a:t>引入锐度等方面的约束</a:t>
                      </a:r>
                      <a:endParaRPr lang="en-US" sz="7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6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Case 2</a:t>
                      </a:r>
                      <a:endParaRPr lang="en-US" sz="7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700" dirty="0">
                          <a:latin typeface="+mn-ea"/>
                          <a:ea typeface="+mn-ea"/>
                          <a:cs typeface="Helvetica Neue" pitchFamily="34" charset="0"/>
                        </a:rPr>
                        <a:t>局部不光滑</a:t>
                      </a:r>
                      <a:endParaRPr lang="en-US" sz="7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zh-CN" sz="7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Gaussian opacity/scale </a:t>
                      </a:r>
                      <a:r>
                        <a:rPr lang="zh-CN" altLang="en-US" sz="7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分布稀疏，局部几何难学。</a:t>
                      </a:r>
                      <a:endParaRPr lang="en-US" altLang="zh-CN" sz="7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700" dirty="0">
                          <a:latin typeface="+mn-ea"/>
                          <a:ea typeface="+mn-ea"/>
                          <a:cs typeface="Helvetica Neue" pitchFamily="34" charset="0"/>
                        </a:rPr>
                        <a:t>引入几何限制</a:t>
                      </a:r>
                      <a:endParaRPr lang="en-US" sz="7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6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Case 3</a:t>
                      </a:r>
                      <a:endParaRPr lang="en-US" sz="7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7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尺度不敏感</a:t>
                      </a:r>
                      <a:endParaRPr lang="en-US" sz="7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700" dirty="0">
                          <a:latin typeface="+mn-ea"/>
                          <a:ea typeface="+mn-ea"/>
                          <a:cs typeface="Helvetica Neue" pitchFamily="34" charset="0"/>
                        </a:rPr>
                        <a:t>目前采用固定相机参数，模型没有预测自身相机参数的能力，故对尺度难以分辨</a:t>
                      </a:r>
                      <a:endParaRPr lang="en-US" sz="7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700" dirty="0">
                          <a:latin typeface="+mn-ea"/>
                          <a:ea typeface="+mn-ea"/>
                          <a:cs typeface="Helvetica Neue" pitchFamily="34" charset="0"/>
                        </a:rPr>
                        <a:t>可尝试预测自身相机参数。</a:t>
                      </a:r>
                      <a:endParaRPr lang="en-US" sz="7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4B5563"/>
                </a:solidFill>
                <a:latin typeface="+mn-ea"/>
                <a:cs typeface="Helvetica Neue" pitchFamily="34" charset="-120"/>
              </a:rPr>
              <a:t>8/10</a:t>
            </a:r>
            <a:endParaRPr lang="en-US" sz="700" dirty="0"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zh-CN" sz="20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7. </a:t>
            </a:r>
            <a:r>
              <a:rPr lang="zh-CN" altLang="en-US" sz="20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工程与复现</a:t>
            </a:r>
            <a:endParaRPr lang="en-US" sz="20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238673"/>
              </p:ext>
            </p:extLst>
          </p:nvPr>
        </p:nvGraphicFramePr>
        <p:xfrm>
          <a:off x="457200" y="1268730"/>
          <a:ext cx="8229600" cy="267697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61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5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交付物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5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路径 </a:t>
                      </a:r>
                      <a:r>
                        <a:rPr lang="en-US" altLang="zh-CN" sz="85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/ </a:t>
                      </a:r>
                      <a:r>
                        <a:rPr lang="zh-CN" altLang="en-US" sz="850" b="1">
                          <a:solidFill>
                            <a:srgbClr val="FFFFFF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命令</a:t>
                      </a:r>
                      <a:endParaRPr lang="en-US" sz="85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1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0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训练入口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python -m </a:t>
                      </a:r>
                      <a:r>
                        <a:rPr lang="en-US" sz="780" dirty="0" err="1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training.train</a:t>
                      </a:r>
                      <a:r>
                        <a:rPr lang="en-US" sz="78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 --config configs/</a:t>
                      </a:r>
                      <a:r>
                        <a:rPr lang="en-US" sz="780" dirty="0" err="1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zerogs_train.yaml</a:t>
                      </a:r>
                      <a:endParaRPr lang="en-US" sz="78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1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环境依赖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requirements.txt</a:t>
                      </a:r>
                      <a:endParaRPr lang="en-US" sz="78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1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checkpoint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kern="12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outputs/zerogs_train/checkpoints/latest.pt </a:t>
                      </a:r>
                      <a:r>
                        <a:rPr lang="zh-CN" altLang="en-US" sz="780" kern="12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或 </a:t>
                      </a:r>
                      <a:r>
                        <a:rPr lang="en-US" sz="780" kern="12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best.pt</a:t>
                      </a:r>
                      <a:endParaRPr lang="en-US" sz="780" kern="1200" dirty="0">
                        <a:solidFill>
                          <a:srgbClr val="1B2838"/>
                        </a:solidFill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1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可视化</a:t>
                      </a:r>
                      <a:r>
                        <a:rPr lang="en-US" altLang="zh-CN" sz="8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/</a:t>
                      </a:r>
                      <a:r>
                        <a:rPr lang="zh-CN" altLang="en-US" sz="80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曲线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8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outputs/</a:t>
                      </a:r>
                      <a:r>
                        <a:rPr lang="en-US" sz="780" dirty="0" err="1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zerogs_train</a:t>
                      </a:r>
                      <a:r>
                        <a:rPr lang="en-US" sz="78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/visuals, validate/</a:t>
                      </a:r>
                      <a:r>
                        <a:rPr lang="en-US" sz="780" dirty="0" err="1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epoch_visuals</a:t>
                      </a:r>
                      <a:r>
                        <a:rPr lang="en-US" sz="78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, plots/loss_curve.png</a:t>
                      </a:r>
                      <a:endParaRPr lang="en-US" sz="78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1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zh-CN" altLang="en-US" sz="80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性能记录</a:t>
                      </a:r>
                      <a:endParaRPr lang="en-US" sz="80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80" dirty="0">
                          <a:solidFill>
                            <a:srgbClr val="1B2838"/>
                          </a:solidFill>
                          <a:latin typeface="+mn-ea"/>
                          <a:ea typeface="+mn-ea"/>
                          <a:cs typeface="Helvetica Neue" pitchFamily="34" charset="-120"/>
                        </a:rPr>
                        <a:t>stats/performance_latest.json, performance_log.jsonl</a:t>
                      </a:r>
                      <a:endParaRPr lang="en-US" sz="780" dirty="0">
                        <a:latin typeface="+mn-ea"/>
                        <a:ea typeface="+mn-ea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4B5563"/>
                </a:solidFill>
                <a:latin typeface="+mn-ea"/>
                <a:cs typeface="Helvetica Neue" pitchFamily="34" charset="-120"/>
              </a:rPr>
              <a:t>9/10</a:t>
            </a:r>
            <a:endParaRPr lang="en-US" sz="700" dirty="0">
              <a:latin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zh-CN" sz="20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8. </a:t>
            </a:r>
            <a:r>
              <a:rPr lang="zh-CN" altLang="en-US" sz="20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总结与诚信声明</a:t>
            </a:r>
            <a:endParaRPr lang="en-US" sz="20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99082"/>
            <a:ext cx="40050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99082"/>
            <a:ext cx="4005072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55114"/>
            <a:ext cx="354787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5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结论：当前阶段</a:t>
            </a:r>
            <a:endParaRPr lang="en-US" sz="1500" dirty="0">
              <a:latin typeface="+mn-ea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85800" y="2657094"/>
            <a:ext cx="3547872" cy="97231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1. 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本项目实现了从多视图 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posed images 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到 </a:t>
            </a:r>
            <a:r>
              <a:rPr lang="en-US" altLang="zh-CN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3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D Gaussians 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的前馈训练流程。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2. 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可视化显示模型已学到物体大体 </a:t>
            </a:r>
            <a:r>
              <a:rPr 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mask/</a:t>
            </a:r>
            <a:r>
              <a:rPr lang="zh-CN" altLang="en-US" sz="1000" dirty="0">
                <a:solidFill>
                  <a:srgbClr val="4B5563"/>
                </a:solidFill>
                <a:latin typeface="+mn-ea"/>
                <a:cs typeface="Helvetica Neue" pitchFamily="34" charset="-120"/>
              </a:rPr>
              <a:t>轮廓，但仍有拖影、边缘碎片和材质不稳定。</a:t>
            </a:r>
          </a:p>
        </p:txBody>
      </p:sp>
      <p:sp>
        <p:nvSpPr>
          <p:cNvPr id="10" name="Shape 8"/>
          <p:cNvSpPr/>
          <p:nvPr/>
        </p:nvSpPr>
        <p:spPr>
          <a:xfrm>
            <a:off x="4681728" y="1799082"/>
            <a:ext cx="40050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799082"/>
            <a:ext cx="4005072" cy="91440"/>
          </a:xfrm>
          <a:prstGeom prst="rect">
            <a:avLst/>
          </a:prstGeom>
          <a:solidFill>
            <a:srgbClr val="C930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10328" y="2055114"/>
            <a:ext cx="354787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zh-CN" altLang="en-US" sz="1500" b="1">
                <a:solidFill>
                  <a:srgbClr val="1B2838"/>
                </a:solidFill>
                <a:latin typeface="+mn-ea"/>
                <a:cs typeface="Helvetica Neue" pitchFamily="34" charset="-120"/>
              </a:rPr>
              <a:t>诚信声明：工具与范围</a:t>
            </a:r>
            <a:endParaRPr lang="en-US" sz="1500" dirty="0">
              <a:latin typeface="+mn-ea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910328" y="2640330"/>
            <a:ext cx="354787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000" dirty="0" err="1">
                <a:solidFill>
                  <a:srgbClr val="4B5563"/>
                </a:solidFill>
                <a:latin typeface="+mn-ea"/>
              </a:rPr>
              <a:t>本项目使用搜索引擎查阅资料；使用辅助工具解释概念、定位报错和局部语言润色；未使用工具直接生成完整代码、完整答案或报告正文</a:t>
            </a:r>
            <a:r>
              <a:rPr lang="en-US" altLang="zh-CN" sz="1000" dirty="0">
                <a:solidFill>
                  <a:srgbClr val="4B5563"/>
                </a:solidFill>
                <a:latin typeface="+mn-ea"/>
              </a:rPr>
              <a:t>。</a:t>
            </a:r>
            <a:endParaRPr lang="en-US" sz="1000" dirty="0">
              <a:solidFill>
                <a:srgbClr val="4B5563"/>
              </a:solidFill>
              <a:latin typeface="+mn-ea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>
                <a:solidFill>
                  <a:srgbClr val="4B5563"/>
                </a:solidFill>
                <a:latin typeface="+mn-ea"/>
                <a:cs typeface="Helvetica Neue" pitchFamily="34" charset="-120"/>
              </a:rPr>
              <a:t>10/10</a:t>
            </a:r>
            <a:endParaRPr lang="en-US" sz="700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938</Words>
  <Application>Microsoft Office PowerPoint</Application>
  <PresentationFormat>全屏显示(16:9)</PresentationFormat>
  <Paragraphs>171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Helvetica Neue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人工智能导论课程项目汇报模板</dc:title>
  <dc:subject>按课程项目说明组织中期/最终汇报</dc:subject>
  <dc:creator>PptxGenJS</dc:creator>
  <cp:lastModifiedBy>knotraveller K.M.</cp:lastModifiedBy>
  <cp:revision>8</cp:revision>
  <dcterms:created xsi:type="dcterms:W3CDTF">2026-06-03T11:53:00Z</dcterms:created>
  <dcterms:modified xsi:type="dcterms:W3CDTF">2026-06-18T06:40:07Z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E90B4495C38B47A6A710DB876DCD8864_12</vt:lpwstr>
  </property>
  <property fmtid="{D5CDD505-2E9C-101B-9397-08002B2CF9AE}" pid="3" name="KSOProductBuildVer">
    <vt:lpwstr>2052-12.8.2.18205</vt:lpwstr>
  </property>
</Properties>
</file>