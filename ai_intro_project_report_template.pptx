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-914400"/>
            <a:ext cx="3291840" cy="3291840"/>
          </a:xfrm>
          <a:prstGeom prst="ellipse">
            <a:avLst/>
          </a:prstGeom>
          <a:solidFill>
            <a:srgbClr val="0B2545">
              <a:alpha val="22000"/>
            </a:srgbClr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096512"/>
            <a:ext cx="9144000" cy="512064"/>
          </a:xfrm>
          <a:prstGeom prst="rect">
            <a:avLst/>
          </a:prstGeom>
          <a:solidFill>
            <a:srgbClr val="C9302C">
              <a:alpha val="82000"/>
            </a:srgbClr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658368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0" b="1" kern="0" spc="180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INTRO PROJECT TEMPLATE</a:t>
            </a:r>
            <a:endParaRPr lang="en-US" sz="880" dirty="0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658368" cy="7315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17320"/>
            <a:ext cx="7863840" cy="9723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人工智能导论课程项目汇报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54224"/>
            <a:ext cx="7863840" cy="7772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D6E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项目方向 / 编号 / 题目：替换为你们的小组项目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D6E4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GroupXX | 成员：姓名1、姓名2、姓名3 | 日期：YYYY-MM-DD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汇报路线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036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建议 8-12 分钟版本保留这 6 个节点；时间更短时合并数据与实验设置。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457200" y="957834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25830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96746"/>
            <a:ext cx="8229600" cy="50063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96746"/>
            <a:ext cx="73152" cy="50063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543050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1755648" y="1488186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问题定义</a:t>
            </a:r>
            <a:endParaRPr lang="en-US" sz="1140" dirty="0"/>
          </a:p>
        </p:txBody>
      </p:sp>
      <p:sp>
        <p:nvSpPr>
          <p:cNvPr id="10" name="Text 8"/>
          <p:cNvSpPr txBox="1"/>
          <p:nvPr/>
        </p:nvSpPr>
        <p:spPr>
          <a:xfrm>
            <a:off x="3950208" y="1506474"/>
            <a:ext cx="4590288" cy="2994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任务、输入输出、评价指标。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57200" y="2043684"/>
            <a:ext cx="8229600" cy="50063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43684"/>
            <a:ext cx="73152" cy="50063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189988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C93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755648" y="2135124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数据</a:t>
            </a:r>
            <a:endParaRPr lang="en-US" sz="1140" dirty="0"/>
          </a:p>
        </p:txBody>
      </p:sp>
      <p:sp>
        <p:nvSpPr>
          <p:cNvPr id="15" name="Text 13"/>
          <p:cNvSpPr txBox="1"/>
          <p:nvPr/>
        </p:nvSpPr>
        <p:spPr>
          <a:xfrm>
            <a:off x="3950208" y="2153412"/>
            <a:ext cx="4590288" cy="2994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来源、规模、预处理、划分方式。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57200" y="2690622"/>
            <a:ext cx="8229600" cy="50063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690622"/>
            <a:ext cx="73152" cy="50063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2836926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1755648" y="2782062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方法</a:t>
            </a:r>
            <a:endParaRPr lang="en-US" sz="1140" dirty="0"/>
          </a:p>
        </p:txBody>
      </p:sp>
      <p:sp>
        <p:nvSpPr>
          <p:cNvPr id="20" name="Text 18"/>
          <p:cNvSpPr txBox="1"/>
          <p:nvPr/>
        </p:nvSpPr>
        <p:spPr>
          <a:xfrm>
            <a:off x="3950208" y="2800350"/>
            <a:ext cx="4590288" cy="2994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基线模型 + 改进模型。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57200" y="3337560"/>
            <a:ext cx="8229600" cy="50063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337560"/>
            <a:ext cx="73152" cy="50063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3483864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C93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1755648" y="3429000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实验</a:t>
            </a:r>
            <a:endParaRPr lang="en-US" sz="1140" dirty="0"/>
          </a:p>
        </p:txBody>
      </p:sp>
      <p:sp>
        <p:nvSpPr>
          <p:cNvPr id="25" name="Text 23"/>
          <p:cNvSpPr txBox="1"/>
          <p:nvPr/>
        </p:nvSpPr>
        <p:spPr>
          <a:xfrm>
            <a:off x="3950208" y="3447288"/>
            <a:ext cx="4590288" cy="2994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超参、训练细节、随机种子。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57200" y="3984498"/>
            <a:ext cx="8229600" cy="500634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984498"/>
            <a:ext cx="73152" cy="50063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8368" y="4130802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755648" y="407593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结果</a:t>
            </a:r>
            <a:endParaRPr lang="en-US" sz="1140" dirty="0"/>
          </a:p>
        </p:txBody>
      </p:sp>
      <p:sp>
        <p:nvSpPr>
          <p:cNvPr id="30" name="Text 28"/>
          <p:cNvSpPr txBox="1"/>
          <p:nvPr/>
        </p:nvSpPr>
        <p:spPr>
          <a:xfrm>
            <a:off x="3950208" y="4094226"/>
            <a:ext cx="4590288" cy="29946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主结果、对比、消融。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Sources: 课程项目说明：报告结构</a:t>
            </a:r>
            <a:endParaRPr lang="en-US" sz="840" dirty="0"/>
          </a:p>
        </p:txBody>
      </p:sp>
      <p:sp>
        <p:nvSpPr>
          <p:cNvPr id="33" name="Text 31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2/12</a:t>
            </a:r>
            <a:endParaRPr lang="en-US" sz="8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评分重点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036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不要只展示最终分数；讲清为什么可信、哪里失败、别人怎么复现。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457200" y="957834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25830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00025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facts provided.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Sources: 课程项目说明：评分标准</a:t>
            </a:r>
            <a:endParaRPr lang="en-US" sz="84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3/12</a:t>
            </a:r>
            <a:endParaRPr lang="en-US" sz="8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问题定义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036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这一页讲清楚任务边界，避免直接跳到模型。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457200" y="957834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25830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05890"/>
            <a:ext cx="2596896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05890"/>
            <a:ext cx="2596896" cy="9144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661922"/>
            <a:ext cx="2139696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任务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247138"/>
            <a:ext cx="2139696" cy="64922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6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替换为：分类 / 回归 / 分割 / 预测 / 强化学习 / Agent 评估等。说明你选择的项目编号，如 ML-2、PJ-NLP4。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3273552" y="1405890"/>
            <a:ext cx="2596896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73552" y="1405890"/>
            <a:ext cx="2596896" cy="91440"/>
          </a:xfrm>
          <a:prstGeom prst="rect">
            <a:avLst/>
          </a:prstGeom>
          <a:solidFill>
            <a:srgbClr val="C930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02152" y="1661922"/>
            <a:ext cx="2139696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输入与输出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02152" y="2247138"/>
            <a:ext cx="2139696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6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输入：样本字段、图像、序列、状态或文档。输出：类别、数值、mask、动作、回答等。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6089904" y="1405890"/>
            <a:ext cx="2596896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9904" y="1405890"/>
            <a:ext cx="2596896" cy="9144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18504" y="1661922"/>
            <a:ext cx="2139696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评价指标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318504" y="2247138"/>
            <a:ext cx="2139696" cy="64922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6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写课程要求指标：Accuracy、Macro-F1、MAE、RMSE、Dice、IoU、return、success rate、ROUGE 等。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4/12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457200" y="4338828"/>
            <a:ext cx="822960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338828"/>
            <a:ext cx="50292" cy="40233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85216" y="4393692"/>
            <a:ext cx="797356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目标：本项目希望在什么数据上，用什么方法，把哪个指标提升到什么水平。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数据说明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036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把数据来源、规模、处理、划分方式写清楚。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457200" y="957834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25830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457200" y="1268730"/>
          <a:ext cx="8229600" cy="2587752"/>
        </p:xfrm>
        <a:graphic>
          <a:graphicData uri="http://schemas.openxmlformats.org/drawingml/2006/table">
            <a:tbl>
              <a:tblPr/>
              <a:tblGrid>
                <a:gridCol w="1481328"/>
                <a:gridCol w="3456432"/>
                <a:gridCol w="3291840"/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项目</a:t>
                      </a:r>
                      <a:endParaRPr lang="en-US" sz="12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填写内容</a:t>
                      </a:r>
                      <a:endParaRPr lang="en-US" sz="12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汇报提醒</a:t>
                      </a:r>
                      <a:endParaRPr lang="en-US" sz="12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数据来源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数据集名称 + 链接 + 下载方式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优先给官方或 Kaggle/UCI 页面；说明是否需账号。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数据规模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样本数、类别数、特征数、时间长度等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不平衡任务要给每类样本数。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预处理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缺失值、异常值、编码、归一化、增强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不要只写 clean data；写清具体策略。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划分方式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Train/Val/Test 或 5-fold CV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时间序列禁止随机打乱；病例/同源对象避免跨集合。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泄漏控制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替换为本项目的泄漏风险与控制；明确如何避免数据泄漏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这是评估严谨的核心证据。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966210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可按项目类型替换行名：图像项目加入分辨率，RL 项目加入环境 seed，RAG 项目加入 chunk 规模。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Sources: 课程项目说明：数据与可复现性</a:t>
            </a:r>
            <a:endParaRPr lang="en-US" sz="840" dirty="0"/>
          </a:p>
        </p:txBody>
      </p:sp>
      <p:sp>
        <p:nvSpPr>
          <p:cNvPr id="10" name="Text 7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5/12</a:t>
            </a:r>
            <a:endParaRPr lang="en-US" sz="8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方法总览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036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先讲对照组，再讲你的改进点；不要只罗列模型名。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457200" y="957834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25830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58968" y="1360170"/>
            <a:ext cx="3227832" cy="323469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blurRad="1016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58968" y="1360170"/>
            <a:ext cx="91440" cy="323469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33288" y="1588770"/>
            <a:ext cx="277063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FOCUS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787898" y="1724152"/>
            <a:ext cx="2770632" cy="21808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Baseline：替换为课程要求的基线，如 LogReg、Naive、1-NN+DTW、DQN、CNN、Lead-3。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Improved：替换为你的改进，如 XGBoost、1D-CNN、LSTM、ViT、Attention、RAG。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Implementation：写清关键实现细节，不贴长代码。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Fairness：同一划分、同一预算、同一指标下对比。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6/12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457200" y="4338828"/>
            <a:ext cx="822960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4338828"/>
            <a:ext cx="50292" cy="40233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5216" y="4393692"/>
            <a:ext cx="797356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这一页的结论：改进模型解决了 baseline 的哪一个具体不足。</a:t>
            </a:r>
            <a:endParaRPr lang="en-US" sz="9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 实验设置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036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把“怎么跑出来”的条件列完整。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457200" y="957834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25830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1314450"/>
            <a:ext cx="0" cy="318897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908935"/>
            <a:ext cx="82296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22776" y="1351026"/>
            <a:ext cx="402336" cy="402336"/>
          </a:xfrm>
          <a:prstGeom prst="ellipse">
            <a:avLst/>
          </a:prstGeom>
          <a:solidFill>
            <a:srgbClr val="0B2545">
              <a:alpha val="14000"/>
            </a:srgbClr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332738"/>
            <a:ext cx="53035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698498"/>
            <a:ext cx="3794760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环境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192274"/>
            <a:ext cx="3794760" cy="4880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6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Python 版本、主要库版本、CPU/GPU、requirements.txt 或 environment.yml。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8193024" y="1351026"/>
            <a:ext cx="402336" cy="402336"/>
          </a:xfrm>
          <a:prstGeom prst="ellipse">
            <a:avLst/>
          </a:prstGeom>
          <a:solidFill>
            <a:srgbClr val="C9302C">
              <a:alpha val="14000"/>
            </a:srgbClr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27448" y="1332738"/>
            <a:ext cx="53035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C93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727448" y="1698498"/>
            <a:ext cx="3794760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随机性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727448" y="2192274"/>
            <a:ext cx="3794760" cy="4880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6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固定随机种子：numpy / sklearn / torch / gymnasium seed；多种子实验写 seed 列表。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3922776" y="3100959"/>
            <a:ext cx="402336" cy="402336"/>
          </a:xfrm>
          <a:prstGeom prst="ellipse">
            <a:avLst/>
          </a:prstGeom>
          <a:solidFill>
            <a:srgbClr val="0B2545">
              <a:alpha val="14000"/>
            </a:srgbClr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082671"/>
            <a:ext cx="53035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448431"/>
            <a:ext cx="3794760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训练细节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942207"/>
            <a:ext cx="3794760" cy="4880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6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epoch、batch size、学习率、优化器、训练预算、早停规则。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8193024" y="3100959"/>
            <a:ext cx="402336" cy="402336"/>
          </a:xfrm>
          <a:prstGeom prst="ellipse">
            <a:avLst/>
          </a:prstGeom>
          <a:solidFill>
            <a:srgbClr val="C9302C">
              <a:alpha val="14000"/>
            </a:srgbClr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27448" y="3082671"/>
            <a:ext cx="53035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20" dirty="0">
                <a:solidFill>
                  <a:srgbClr val="C93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727448" y="3448431"/>
            <a:ext cx="3794760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超参搜索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727448" y="3942207"/>
            <a:ext cx="3794760" cy="4880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06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搜索范围、验证集选择、最终超参；避免用 test 集调参。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7/12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457200" y="4338828"/>
            <a:ext cx="822960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D1D5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338828"/>
            <a:ext cx="50292" cy="40233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85216" y="4393692"/>
            <a:ext cx="797356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只展示最终模型不够；需要证明比较过程公平、可重复。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5. 主结果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036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按你项目的指标替换表头；保留 baseline 与改进模型。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457200" y="957834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25830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50442"/>
            <a:ext cx="4005072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主结果表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457200" y="1533906"/>
          <a:ext cx="4005073" cy="2393442"/>
        </p:xfrm>
        <a:graphic>
          <a:graphicData uri="http://schemas.openxmlformats.org/drawingml/2006/table">
            <a:tbl>
              <a:tblPr/>
              <a:tblGrid>
                <a:gridCol w="921167"/>
                <a:gridCol w="640812"/>
                <a:gridCol w="640812"/>
                <a:gridCol w="801014"/>
                <a:gridCol w="1001268"/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方法</a:t>
                      </a:r>
                      <a:endParaRPr lang="en-US" sz="95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指标 1</a:t>
                      </a:r>
                      <a:endParaRPr lang="en-US" sz="95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指标 2</a:t>
                      </a:r>
                      <a:endParaRPr lang="en-US" sz="95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训练/推理成本</a:t>
                      </a:r>
                      <a:endParaRPr lang="en-US" sz="95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备注</a:t>
                      </a:r>
                      <a:endParaRPr lang="en-US" sz="95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Baseline</a:t>
                      </a:r>
                      <a:endParaRPr lang="en-US" sz="8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填写</a:t>
                      </a:r>
                      <a:endParaRPr lang="en-US" sz="8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填写</a:t>
                      </a:r>
                      <a:endParaRPr lang="en-US" sz="8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填写</a:t>
                      </a:r>
                      <a:endParaRPr lang="en-US" sz="8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课程要求基线</a:t>
                      </a:r>
                      <a:endParaRPr lang="en-US" sz="8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Improved Model</a:t>
                      </a:r>
                      <a:endParaRPr lang="en-US" sz="8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填写</a:t>
                      </a:r>
                      <a:endParaRPr lang="en-US" sz="8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填写</a:t>
                      </a:r>
                      <a:endParaRPr lang="en-US" sz="8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填写</a:t>
                      </a:r>
                      <a:endParaRPr lang="en-US" sz="8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你的改进方法</a:t>
                      </a:r>
                      <a:endParaRPr lang="en-US" sz="8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Ablation / Variant</a:t>
                      </a:r>
                      <a:endParaRPr lang="en-US" sz="8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填写</a:t>
                      </a:r>
                      <a:endParaRPr lang="en-US" sz="8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填写</a:t>
                      </a:r>
                      <a:endParaRPr lang="en-US" sz="8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填写</a:t>
                      </a:r>
                      <a:endParaRPr lang="en-US" sz="8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可选对照</a:t>
                      </a:r>
                      <a:endParaRPr lang="en-US" sz="8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3982212"/>
            <a:ext cx="4005072" cy="246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分类常用 Accuracy + Macro-F1；预测常用 MAE + RMSE；分割常用 Dice + IoU；RL 常用 return + success rate。</a:t>
            </a:r>
            <a:endParaRPr lang="en-US" sz="800" dirty="0"/>
          </a:p>
        </p:txBody>
      </p:sp>
      <p:sp>
        <p:nvSpPr>
          <p:cNvPr id="7" name="Text 6"/>
          <p:cNvSpPr txBox="1"/>
          <p:nvPr/>
        </p:nvSpPr>
        <p:spPr>
          <a:xfrm>
            <a:off x="4681728" y="1250442"/>
            <a:ext cx="4005072" cy="2194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结果图占位</a:t>
            </a:r>
            <a:endParaRPr lang="en-US" sz="105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/>
        </p:nvGraphicFramePr>
        <p:xfrm>
          <a:off x="4681728" y="1533906"/>
          <a:ext cx="4005072" cy="2713482"/>
        </p:xfrm>
        <a:graphic>
          <a:graphicData uri="http://schemas.openxmlformats.org/drawingml/2006/table">
            <a:tbl>
              <a:tblPr/>
              <a:tblGrid>
                <a:gridCol w="1802282"/>
                <a:gridCol w="2202790"/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图</a:t>
                      </a:r>
                      <a:endParaRPr lang="en-US" sz="95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文件名</a:t>
                      </a:r>
                      <a:endParaRPr lang="en-US" sz="95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曲线/混淆矩阵/可视化</a:t>
                      </a:r>
                      <a:endParaRPr lang="en-US" sz="8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替换为 png 文件名</a:t>
                      </a:r>
                      <a:endParaRPr lang="en-US" sz="8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关键现象</a:t>
                      </a:r>
                      <a:endParaRPr lang="en-US" sz="8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一句话解释图的结论</a:t>
                      </a:r>
                      <a:endParaRPr lang="en-US" sz="8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57200" y="4466844"/>
            <a:ext cx="82296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66928" y="4521708"/>
            <a:ext cx="8010144" cy="201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结论句：改进模型相较 baseline 在主要指标上提升 ___，但在 ___ 场景仍然失败。</a:t>
            </a:r>
            <a:endParaRPr lang="en-US" sz="840" dirty="0"/>
          </a:p>
        </p:txBody>
      </p:sp>
      <p:sp>
        <p:nvSpPr>
          <p:cNvPr id="13" name="Shape 9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8/12</a:t>
            </a:r>
            <a:endParaRPr lang="en-US" sz="8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6. 消融实验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036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消融不是加分装饰，而是回答“哪一部分贡献最大”。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457200" y="957834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25830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68730"/>
            <a:ext cx="395478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B254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完整方法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55114"/>
            <a:ext cx="3954780" cy="16710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包含全部特征/增强/模块/检索/探索策略。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填写：完整方法的指标。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填写：完整方法最明显的优势。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732020" y="1268730"/>
            <a:ext cx="395478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9302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去掉某一步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732020" y="2055114"/>
            <a:ext cx="3954780" cy="167106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去掉一个特征工程、增强策略、loss、attention、RAG 检索或奖励塑形。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填写：指标下降或变化。</a:t>
            </a:r>
            <a:endParaRPr lang="en-US" sz="14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解释：为什么这个模块有贡献或没有贡献。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53712" y="1323594"/>
            <a:ext cx="36576" cy="2420874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982212"/>
            <a:ext cx="7315200" cy="56692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982212"/>
            <a:ext cx="73152" cy="56692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15568" y="4018788"/>
            <a:ext cx="6967728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建议至少做 1 个消融；如果项目说明明确要求消融，请把该页放在结果页之后。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9/12</a:t>
            </a:r>
            <a:endParaRPr lang="en-US" sz="8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7. 错误分析 / 失败案例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036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这一页最能体现你是否真正理解模型。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457200" y="957834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25830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457200" y="1268730"/>
          <a:ext cx="8229600" cy="1892808"/>
        </p:xfrm>
        <a:graphic>
          <a:graphicData uri="http://schemas.openxmlformats.org/drawingml/2006/table">
            <a:tbl>
              <a:tblPr/>
              <a:tblGrid>
                <a:gridCol w="1152144"/>
                <a:gridCol w="2468880"/>
                <a:gridCol w="2551176"/>
                <a:gridCol w="2057400"/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案例</a:t>
                      </a:r>
                      <a:endParaRPr lang="en-US" sz="12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现象</a:t>
                      </a:r>
                      <a:endParaRPr lang="en-US" sz="12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可能原因</a:t>
                      </a:r>
                      <a:endParaRPr lang="en-US" sz="12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改进方向</a:t>
                      </a:r>
                      <a:endParaRPr lang="en-US" sz="12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Case 1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替换为错误样本/失败轨迹/检索失败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类别相似、噪声、样本少、探索不足、chunk 不合理等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下一步如何验证或修复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Case 2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替换为第二个案例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填写归因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填写改进方向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Case 3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替换为第三个案例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填写归因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填写改进方向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271266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CV/NLP 可贴可视化样例；RL 可贴失败轨迹；RAG/Agent 可贴检索或工具调用日志片段。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Sources: 课程项目说明：讨论需包含错误分析/失败案例</a:t>
            </a:r>
            <a:endParaRPr lang="en-US" sz="840" dirty="0"/>
          </a:p>
        </p:txBody>
      </p:sp>
      <p:sp>
        <p:nvSpPr>
          <p:cNvPr id="10" name="Text 7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10/12</a:t>
            </a:r>
            <a:endParaRPr lang="en-US" sz="8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8. 工程与复现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036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最后一页技术内容要让助教知道如何复现实验。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457200" y="957834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25830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457200" y="1268730"/>
          <a:ext cx="8229600" cy="2935224"/>
        </p:xfrm>
        <a:graphic>
          <a:graphicData uri="http://schemas.openxmlformats.org/drawingml/2006/table">
            <a:tbl>
              <a:tblPr/>
              <a:tblGrid>
                <a:gridCol w="1975104"/>
                <a:gridCol w="3950208"/>
                <a:gridCol w="2304288"/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交付物</a:t>
                      </a:r>
                      <a:endParaRPr lang="en-US" sz="12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建议文件名/命令</a:t>
                      </a:r>
                      <a:endParaRPr lang="en-US" sz="12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状态</a:t>
                      </a:r>
                      <a:endParaRPr lang="en-US" sz="12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代码入口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python main.py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已完成 / 待补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环境文件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requirements.txt 或 environment.yml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已完成 / 待补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报告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report.pdf，正文约 6 页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已完成 / 待补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结果文件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predictions.csv 或 learning_curve.csv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已完成 / 待补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复现实验脚本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run.sh 或 run.bat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已完成 / 待补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GitHub 链接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替换为仓库 URL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838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已完成 / 待补</a:t>
                      </a:r>
                      <a:endParaRPr lang="en-US" sz="1000" dirty="0">
                        <a:latin typeface="Helvetica Neue" pitchFamily="34" charset="0"/>
                        <a:ea typeface="Helvetica Neue" pitchFamily="34" charset="0"/>
                        <a:cs typeface="Helvetica Neue" pitchFamily="34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141597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文件夹命名建议：Project_&lt;方向&gt;_&lt;编号&gt;_GroupXX/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11/12</a:t>
            </a:r>
            <a:endParaRPr lang="en-US" sz="840" dirty="0"/>
          </a:p>
        </p:txBody>
      </p:sp>
      <p:sp>
        <p:nvSpPr>
          <p:cNvPr id="10" name="Shape 7"/>
          <p:cNvSpPr/>
          <p:nvPr/>
        </p:nvSpPr>
        <p:spPr>
          <a:xfrm>
            <a:off x="457200" y="4348988"/>
            <a:ext cx="8229600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D1D5D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4338828"/>
            <a:ext cx="50292" cy="402336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Text 9"/>
          <p:cNvSpPr txBox="1"/>
          <p:nvPr/>
        </p:nvSpPr>
        <p:spPr>
          <a:xfrm>
            <a:off x="585216" y="4393692"/>
            <a:ext cx="797356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2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工程质量只有 10 分，但它会影响老师和助教能否相信你的全部实验。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"/>
            <a:ext cx="8229600" cy="4000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9. 总结与诚信声明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957834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25830"/>
            <a:ext cx="777240" cy="32004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99082"/>
            <a:ext cx="400507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99082"/>
            <a:ext cx="4005072" cy="9144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055114"/>
            <a:ext cx="3547872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结论：不超过 10 行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40330"/>
            <a:ext cx="3547872" cy="9723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6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本项目解决了什么任务。</a:t>
            </a:r>
            <a:endParaRPr lang="en-US" sz="106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6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最有效的模型/策略是什么。</a:t>
            </a:r>
            <a:endParaRPr lang="en-US" sz="106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6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相比 baseline 提升多少。</a:t>
            </a:r>
            <a:endParaRPr lang="en-US" sz="106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6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 主要失败场景是什么。</a:t>
            </a:r>
            <a:endParaRPr lang="en-US" sz="106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6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5. 下一步最值得改进什么。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4681728" y="1799082"/>
            <a:ext cx="400507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  <a:prstDash val="solid"/>
          </a:ln>
          <a:effectLst>
            <a:outerShdw blurRad="101600" dist="25400" dir="5400000" algn="bl" rotWithShape="0">
              <a:srgbClr val="0F172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81728" y="1799082"/>
            <a:ext cx="4005072" cy="91440"/>
          </a:xfrm>
          <a:prstGeom prst="rect">
            <a:avLst/>
          </a:prstGeom>
          <a:solidFill>
            <a:srgbClr val="C930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10328" y="2055114"/>
            <a:ext cx="3547872" cy="3840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283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诚信声明：工具与范围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910328" y="2640330"/>
            <a:ext cx="3547872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6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示例：本项目使用搜索引擎查阅资料；使用辅助工具解释概念、定位报错和局部语言润色；未使用工具直接生成完整代码、完整答案或报告正文。</a:t>
            </a:r>
            <a:endParaRPr lang="en-US" sz="106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4B556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12/12</a:t>
            </a:r>
            <a:endParaRPr lang="en-US" sz="8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2669</Words>
  <Application>WPS 演示</Application>
  <PresentationFormat>On-screen Show (16:9)</PresentationFormat>
  <Paragraphs>364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宋体</vt:lpstr>
      <vt:lpstr>Wingdings</vt:lpstr>
      <vt:lpstr>Helvetica Neue</vt:lpstr>
      <vt:lpstr>Helvetica Neue</vt:lpstr>
      <vt:lpstr>Helvetica Neue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人工智能导论课程项目汇报模板</dc:title>
  <dc:creator>PptxGenJS</dc:creator>
  <dc:subject>按课程项目说明组织中期/最终汇报</dc:subject>
  <cp:lastModifiedBy>leonard</cp:lastModifiedBy>
  <cp:revision>3</cp:revision>
  <dcterms:created xsi:type="dcterms:W3CDTF">2026-06-03T11:53:00Z</dcterms:created>
  <dcterms:modified xsi:type="dcterms:W3CDTF">2026-06-03T16:46:49Z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E90B4495C38B47A6A710DB876DCD8864_12</vt:lpwstr>
  </property>
  <property fmtid="{D5CDD505-2E9C-101B-9397-08002B2CF9AE}" pid="3" name="KSOProductBuildVer">
    <vt:lpwstr>2052-12.8.2.18205</vt:lpwstr>
  </property>
</Properties>
</file>